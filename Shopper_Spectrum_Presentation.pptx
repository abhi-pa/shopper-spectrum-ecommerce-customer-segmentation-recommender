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413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56097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481957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940036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78125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754073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112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3576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3914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595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824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3754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970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243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727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512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9230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1509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847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005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649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008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0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6748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43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572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7632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2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000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8547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072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422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846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460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241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8274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466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1031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4380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46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521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0460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728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503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7094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324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256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395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431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6082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3422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978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628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1305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836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504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2529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311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9809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3146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000125" name="Shape 0"/>
          <p:cNvSpPr/>
          <p:nvPr/>
        </p:nvSpPr>
        <p:spPr bwMode="auto">
          <a:xfrm>
            <a:off x="0" y="0"/>
            <a:ext cx="9144000" cy="2743200"/>
          </a:xfrm>
          <a:prstGeom prst="rect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780614978" name="Text 1"/>
          <p:cNvSpPr/>
          <p:nvPr/>
        </p:nvSpPr>
        <p:spPr bwMode="auto"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SHOPPER SPECTRUM</a:t>
            </a:r>
            <a:endParaRPr sz="5600">
              <a:latin typeface="Times New Roman"/>
              <a:cs typeface="Times New Roman"/>
            </a:endParaRPr>
          </a:p>
        </p:txBody>
      </p:sp>
      <p:sp>
        <p:nvSpPr>
          <p:cNvPr id="1547476573" name="Text 2"/>
          <p:cNvSpPr/>
          <p:nvPr/>
        </p:nvSpPr>
        <p:spPr bwMode="auto"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Customer Segmentation &amp; Product Recommendations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854951" name="Text 3"/>
          <p:cNvSpPr/>
          <p:nvPr/>
        </p:nvSpPr>
        <p:spPr bwMode="auto"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5F5F5"/>
                </a:solidFill>
                <a:latin typeface="Times New Roman"/>
                <a:ea typeface="Times New Roman"/>
                <a:cs typeface="Times New Roman"/>
              </a:rPr>
              <a:t>By: Abhishek | May Batch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20399042" name="Text 4"/>
          <p:cNvSpPr/>
          <p:nvPr/>
        </p:nvSpPr>
        <p:spPr bwMode="auto"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F5F5F5"/>
                </a:solidFill>
                <a:latin typeface="Times New Roman"/>
                <a:ea typeface="Times New Roman"/>
                <a:cs typeface="Times New Roman"/>
              </a:rPr>
              <a:t>Machine Learning | Data Analysis | Streamlit Application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774348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8735744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Agenda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765440442" name="Text 2"/>
          <p:cNvSpPr/>
          <p:nvPr/>
        </p:nvSpPr>
        <p:spPr bwMode="auto">
          <a:xfrm>
            <a:off x="1060579" y="107605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1. Project Overview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39085770" name="Text 3"/>
          <p:cNvSpPr/>
          <p:nvPr/>
        </p:nvSpPr>
        <p:spPr bwMode="auto">
          <a:xfrm>
            <a:off x="1060579" y="167041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2. Problem &amp; Solution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14334795" name="Text 4"/>
          <p:cNvSpPr/>
          <p:nvPr/>
        </p:nvSpPr>
        <p:spPr bwMode="auto">
          <a:xfrm>
            <a:off x="1060579" y="2183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3. RFM Analysis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78448816" name="Text 5"/>
          <p:cNvSpPr/>
          <p:nvPr/>
        </p:nvSpPr>
        <p:spPr bwMode="auto">
          <a:xfrm>
            <a:off x="1060579" y="26399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4. Customer Segmentation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70171627" name="Text 6"/>
          <p:cNvSpPr/>
          <p:nvPr/>
        </p:nvSpPr>
        <p:spPr bwMode="auto">
          <a:xfrm>
            <a:off x="1060579" y="314503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5. Product Recommendations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980538" name="Text 7"/>
          <p:cNvSpPr/>
          <p:nvPr/>
        </p:nvSpPr>
        <p:spPr bwMode="auto">
          <a:xfrm>
            <a:off x="1060579" y="365013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6. Application &amp; Results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238721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546117473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71959533" name="Shape 2"/>
          <p:cNvSpPr/>
          <p:nvPr/>
        </p:nvSpPr>
        <p:spPr bwMode="auto">
          <a:xfrm flipH="0" flipV="0">
            <a:off x="564719" y="1097280"/>
            <a:ext cx="3524670" cy="3865361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29903740" name="Text 3"/>
          <p:cNvSpPr/>
          <p:nvPr/>
        </p:nvSpPr>
        <p:spPr bwMode="auto">
          <a:xfrm>
            <a:off x="634326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Objective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2319297" name="Text 4"/>
          <p:cNvSpPr/>
          <p:nvPr/>
        </p:nvSpPr>
        <p:spPr bwMode="auto">
          <a:xfrm flipH="0" flipV="0">
            <a:off x="731519" y="1656183"/>
            <a:ext cx="3273862" cy="99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Segment customers by shopping behavior and recommend relevant products</a:t>
            </a:r>
            <a:r>
              <a:rPr lang="en-IN" sz="1600">
                <a:latin typeface="Times New Roman"/>
                <a:ea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75401904" name="Text 5"/>
          <p:cNvSpPr/>
          <p:nvPr/>
        </p:nvSpPr>
        <p:spPr bwMode="auto">
          <a:xfrm flipH="0" flipV="0">
            <a:off x="731520" y="2571750"/>
            <a:ext cx="3215545" cy="674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Build a data-driven marketing system</a:t>
            </a:r>
            <a:r>
              <a:rPr lang="en-IN" sz="160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20094787" name="Text 6"/>
          <p:cNvSpPr/>
          <p:nvPr/>
        </p:nvSpPr>
        <p:spPr bwMode="auto">
          <a:xfrm flipH="0" flipV="0">
            <a:off x="731519" y="3246274"/>
            <a:ext cx="3079474" cy="777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Enable personalized customer strategies</a:t>
            </a:r>
            <a:r>
              <a:rPr lang="en-IN" sz="1600" i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62196924" name="Shape 7"/>
          <p:cNvSpPr/>
          <p:nvPr/>
        </p:nvSpPr>
        <p:spPr bwMode="auto">
          <a:xfrm flipH="0" flipV="0">
            <a:off x="4685739" y="1097280"/>
            <a:ext cx="4001060" cy="3865361"/>
          </a:xfrm>
          <a:prstGeom prst="rect">
            <a:avLst/>
          </a:prstGeom>
          <a:solidFill>
            <a:srgbClr val="E8E8E8"/>
          </a:solidFill>
          <a:ln w="381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472505843" name="Text 8"/>
          <p:cNvSpPr/>
          <p:nvPr/>
        </p:nvSpPr>
        <p:spPr bwMode="auto">
          <a:xfrm>
            <a:off x="4795934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Impact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9080995" name="Text 9"/>
          <p:cNvSpPr/>
          <p:nvPr/>
        </p:nvSpPr>
        <p:spPr bwMode="auto">
          <a:xfrm flipH="0" flipV="0">
            <a:off x="4922286" y="1784168"/>
            <a:ext cx="3029167" cy="470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Increase customer value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10092197" name="Text 10"/>
          <p:cNvSpPr/>
          <p:nvPr/>
        </p:nvSpPr>
        <p:spPr bwMode="auto">
          <a:xfrm flipH="0" flipV="0">
            <a:off x="4941126" y="2153971"/>
            <a:ext cx="3092894" cy="654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Reduce customer churn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94625115" name="Text 11"/>
          <p:cNvSpPr/>
          <p:nvPr/>
        </p:nvSpPr>
        <p:spPr bwMode="auto">
          <a:xfrm flipH="0" flipV="0">
            <a:off x="4922286" y="2571750"/>
            <a:ext cx="3256927" cy="674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Boost cross-sell revenue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92759542" name="Text 12"/>
          <p:cNvSpPr/>
          <p:nvPr/>
        </p:nvSpPr>
        <p:spPr bwMode="auto">
          <a:xfrm flipH="0" flipV="0">
            <a:off x="4938972" y="3078091"/>
            <a:ext cx="3223554" cy="43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Optimize marketing budget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890833" name="Shape 0"/>
          <p:cNvSpPr/>
          <p:nvPr/>
        </p:nvSpPr>
        <p:spPr bwMode="auto">
          <a:xfrm>
            <a:off x="0" y="22859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506462336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5350723" name="Shape 2"/>
          <p:cNvSpPr/>
          <p:nvPr/>
        </p:nvSpPr>
        <p:spPr bwMode="auto">
          <a:xfrm flipH="0" flipV="0">
            <a:off x="662894" y="1178852"/>
            <a:ext cx="7198516" cy="393120"/>
          </a:xfrm>
          <a:prstGeom prst="rect">
            <a:avLst/>
          </a:prstGeom>
          <a:solidFill>
            <a:srgbClr val="E8E8E8"/>
          </a:solidFill>
          <a:ln w="25400">
            <a:solidFill>
              <a:srgbClr val="E74C3C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551959082" name="Text 3"/>
          <p:cNvSpPr/>
          <p:nvPr/>
        </p:nvSpPr>
        <p:spPr bwMode="auto">
          <a:xfrm flipH="0" flipV="0">
            <a:off x="766600" y="1332414"/>
            <a:ext cx="2092592" cy="859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74C3C"/>
                </a:solidFill>
                <a:latin typeface="Times New Roman"/>
                <a:ea typeface="Times New Roman"/>
                <a:cs typeface="Times New Roman"/>
              </a:rPr>
              <a:t>Generic Marketing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5243870" name="Text 4"/>
          <p:cNvSpPr/>
          <p:nvPr/>
        </p:nvSpPr>
        <p:spPr bwMode="auto">
          <a:xfrm flipH="0" flipV="0">
            <a:off x="914006" y="1781901"/>
            <a:ext cx="6696293" cy="171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All customers treated the same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85230406" name="Shape 5"/>
          <p:cNvSpPr/>
          <p:nvPr/>
        </p:nvSpPr>
        <p:spPr bwMode="auto">
          <a:xfrm flipH="0" flipV="0">
            <a:off x="662895" y="2332191"/>
            <a:ext cx="7198516" cy="393120"/>
          </a:xfrm>
          <a:prstGeom prst="rect">
            <a:avLst/>
          </a:prstGeom>
          <a:solidFill>
            <a:srgbClr val="E8E8E8"/>
          </a:solidFill>
          <a:ln w="25400">
            <a:solidFill>
              <a:srgbClr val="E74C3C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31167579" name="Text 6"/>
          <p:cNvSpPr/>
          <p:nvPr/>
        </p:nvSpPr>
        <p:spPr bwMode="auto">
          <a:xfrm flipH="0" flipV="0">
            <a:off x="789808" y="2442756"/>
            <a:ext cx="2092592" cy="859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74C3C"/>
                </a:solidFill>
                <a:latin typeface="Times New Roman"/>
                <a:ea typeface="Times New Roman"/>
                <a:cs typeface="Times New Roman"/>
              </a:rPr>
              <a:t>Poor Insights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19349179" name="Text 7"/>
          <p:cNvSpPr/>
          <p:nvPr/>
        </p:nvSpPr>
        <p:spPr bwMode="auto">
          <a:xfrm flipH="0" flipV="0">
            <a:off x="914004" y="2955223"/>
            <a:ext cx="6696293" cy="171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 understanding of customer value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24493768" name="Shape 8"/>
          <p:cNvSpPr/>
          <p:nvPr/>
        </p:nvSpPr>
        <p:spPr bwMode="auto">
          <a:xfrm flipH="0" flipV="0">
            <a:off x="662895" y="3378150"/>
            <a:ext cx="7198516" cy="393120"/>
          </a:xfrm>
          <a:prstGeom prst="rect">
            <a:avLst/>
          </a:prstGeom>
          <a:solidFill>
            <a:srgbClr val="E8E8E8"/>
          </a:solidFill>
          <a:ln w="25400">
            <a:solidFill>
              <a:srgbClr val="E74C3C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595832445" name="Text 9"/>
          <p:cNvSpPr/>
          <p:nvPr/>
        </p:nvSpPr>
        <p:spPr bwMode="auto">
          <a:xfrm flipH="0" flipV="0">
            <a:off x="662895" y="3488715"/>
            <a:ext cx="2092592" cy="859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74C3C"/>
                </a:solidFill>
                <a:latin typeface="Times New Roman"/>
                <a:ea typeface="Times New Roman"/>
                <a:cs typeface="Times New Roman"/>
              </a:rPr>
              <a:t>High Churn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0256547" name="Text 10"/>
          <p:cNvSpPr/>
          <p:nvPr/>
        </p:nvSpPr>
        <p:spPr bwMode="auto">
          <a:xfrm flipH="0" flipV="0">
            <a:off x="914005" y="3971332"/>
            <a:ext cx="6696293" cy="171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Can't retain at-risk customers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551391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741351573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Solution Approach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092220623" name="Shape 2"/>
          <p:cNvSpPr/>
          <p:nvPr/>
        </p:nvSpPr>
        <p:spPr bwMode="auto">
          <a:xfrm flipH="0" flipV="0">
            <a:off x="589403" y="1960266"/>
            <a:ext cx="1946712" cy="8430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484418001" name="Shape 3"/>
          <p:cNvSpPr/>
          <p:nvPr/>
        </p:nvSpPr>
        <p:spPr bwMode="auto">
          <a:xfrm flipH="0" flipV="0">
            <a:off x="1245624" y="1384368"/>
            <a:ext cx="537023" cy="419222"/>
          </a:xfrm>
          <a:prstGeom prst="ellipse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065921552" name="Text 4"/>
          <p:cNvSpPr/>
          <p:nvPr/>
        </p:nvSpPr>
        <p:spPr bwMode="auto">
          <a:xfrm flipH="0" flipV="0">
            <a:off x="1245624" y="1384368"/>
            <a:ext cx="537023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44481373" name="Text 5"/>
          <p:cNvSpPr/>
          <p:nvPr/>
        </p:nvSpPr>
        <p:spPr bwMode="auto">
          <a:xfrm flipH="0" flipV="0">
            <a:off x="675036" y="2171027"/>
            <a:ext cx="1678200" cy="42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Analyze RFM Data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09780479" name="Shape 6"/>
          <p:cNvSpPr/>
          <p:nvPr/>
        </p:nvSpPr>
        <p:spPr bwMode="auto">
          <a:xfrm flipH="0" flipV="0">
            <a:off x="3424043" y="1960266"/>
            <a:ext cx="1946712" cy="84304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540375334" name="Shape 7"/>
          <p:cNvSpPr/>
          <p:nvPr/>
        </p:nvSpPr>
        <p:spPr bwMode="auto">
          <a:xfrm flipH="0" flipV="0">
            <a:off x="4094447" y="1326051"/>
            <a:ext cx="537023" cy="419222"/>
          </a:xfrm>
          <a:prstGeom prst="ellipse">
            <a:avLst/>
          </a:prstGeom>
          <a:solidFill>
            <a:srgbClr val="00A896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36353673" name="Text 8"/>
          <p:cNvSpPr/>
          <p:nvPr/>
        </p:nvSpPr>
        <p:spPr bwMode="auto">
          <a:xfrm flipH="0" flipV="0">
            <a:off x="4094447" y="1326051"/>
            <a:ext cx="537023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32792098" name="Text 9"/>
          <p:cNvSpPr/>
          <p:nvPr/>
        </p:nvSpPr>
        <p:spPr bwMode="auto">
          <a:xfrm flipH="0" flipV="0">
            <a:off x="3558299" y="2171027"/>
            <a:ext cx="1678200" cy="42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Cluster Customers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3868084" name="Shape 10"/>
          <p:cNvSpPr/>
          <p:nvPr/>
        </p:nvSpPr>
        <p:spPr bwMode="auto">
          <a:xfrm flipH="0" flipV="0">
            <a:off x="6258683" y="1960266"/>
            <a:ext cx="1946712" cy="843040"/>
          </a:xfrm>
          <a:prstGeom prst="rect">
            <a:avLst/>
          </a:prstGeom>
          <a:solidFill>
            <a:srgbClr val="F5F5F5"/>
          </a:solidFill>
          <a:ln w="38100">
            <a:solidFill>
              <a:srgbClr val="F39C12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655085622" name="Shape 11"/>
          <p:cNvSpPr/>
          <p:nvPr/>
        </p:nvSpPr>
        <p:spPr bwMode="auto">
          <a:xfrm flipH="0" flipV="0">
            <a:off x="6873481" y="1326051"/>
            <a:ext cx="537023" cy="419222"/>
          </a:xfrm>
          <a:prstGeom prst="ellipse">
            <a:avLst/>
          </a:prstGeom>
          <a:solidFill>
            <a:srgbClr val="F39C12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759286256" name="Text 12"/>
          <p:cNvSpPr/>
          <p:nvPr/>
        </p:nvSpPr>
        <p:spPr bwMode="auto">
          <a:xfrm flipH="0" flipV="0">
            <a:off x="6873481" y="1326051"/>
            <a:ext cx="537023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01844999" name="Text 13"/>
          <p:cNvSpPr/>
          <p:nvPr/>
        </p:nvSpPr>
        <p:spPr bwMode="auto">
          <a:xfrm flipH="0" flipV="0">
            <a:off x="6406176" y="2171027"/>
            <a:ext cx="1678200" cy="42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Recommend Products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2933291" name="Shape 14"/>
          <p:cNvSpPr/>
          <p:nvPr/>
        </p:nvSpPr>
        <p:spPr bwMode="auto">
          <a:xfrm flipH="0" flipV="0">
            <a:off x="1583830" y="3342925"/>
            <a:ext cx="5773010" cy="692497"/>
          </a:xfrm>
          <a:prstGeom prst="rect">
            <a:avLst/>
          </a:prstGeom>
          <a:solidFill>
            <a:srgbClr val="E8E8E8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505816126" name="Text 15"/>
          <p:cNvSpPr/>
          <p:nvPr/>
        </p:nvSpPr>
        <p:spPr bwMode="auto">
          <a:xfrm flipH="0" flipV="0">
            <a:off x="1712278" y="3362386"/>
            <a:ext cx="5370242" cy="572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Deploy interactive Streamlit app for easy access and real-time predictions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284587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742550277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RFM Analysis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40440947" name="Shape 2"/>
          <p:cNvSpPr/>
          <p:nvPr/>
        </p:nvSpPr>
        <p:spPr bwMode="auto">
          <a:xfrm flipH="0" flipV="0">
            <a:off x="586477" y="1286691"/>
            <a:ext cx="2468880" cy="3483272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9067095" name="Text 3"/>
          <p:cNvSpPr/>
          <p:nvPr/>
        </p:nvSpPr>
        <p:spPr bwMode="auto">
          <a:xfrm flipH="0" flipV="0">
            <a:off x="635073" y="1561244"/>
            <a:ext cx="246888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023608613" name="Text 4"/>
          <p:cNvSpPr/>
          <p:nvPr/>
        </p:nvSpPr>
        <p:spPr bwMode="auto">
          <a:xfrm flipH="0" flipV="0">
            <a:off x="805341" y="2322944"/>
            <a:ext cx="2128344" cy="248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RECENCY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10407169" name="Text 5"/>
          <p:cNvSpPr/>
          <p:nvPr/>
        </p:nvSpPr>
        <p:spPr bwMode="auto">
          <a:xfrm flipH="0" flipV="0">
            <a:off x="756744" y="2134610"/>
            <a:ext cx="2128344" cy="2363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How recently did the customer make a purchase?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08671622" name="Shape 6"/>
          <p:cNvSpPr/>
          <p:nvPr/>
        </p:nvSpPr>
        <p:spPr bwMode="auto">
          <a:xfrm flipH="0" flipV="0">
            <a:off x="3421117" y="1286691"/>
            <a:ext cx="2468880" cy="3483272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37781271" name="Text 7"/>
          <p:cNvSpPr/>
          <p:nvPr/>
        </p:nvSpPr>
        <p:spPr bwMode="auto">
          <a:xfrm flipH="0" flipV="0">
            <a:off x="3421116" y="1561243"/>
            <a:ext cx="246888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00A896"/>
                </a:solidFill>
                <a:latin typeface="Times New Roman"/>
                <a:ea typeface="Times New Roman"/>
                <a:cs typeface="Times New Roman"/>
              </a:rPr>
              <a:t>F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933580120" name="Text 8"/>
          <p:cNvSpPr/>
          <p:nvPr/>
        </p:nvSpPr>
        <p:spPr bwMode="auto">
          <a:xfrm flipH="0" flipV="0">
            <a:off x="3591384" y="2322944"/>
            <a:ext cx="2128344" cy="248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FREQUENCY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85299907" name="Text 9"/>
          <p:cNvSpPr/>
          <p:nvPr/>
        </p:nvSpPr>
        <p:spPr bwMode="auto">
          <a:xfrm flipH="0" flipV="0">
            <a:off x="3591383" y="2056855"/>
            <a:ext cx="2128344" cy="2363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How often does the customer purchase?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9343423" name="Shape 10"/>
          <p:cNvSpPr/>
          <p:nvPr/>
        </p:nvSpPr>
        <p:spPr bwMode="auto">
          <a:xfrm flipH="0" flipV="0">
            <a:off x="6255757" y="1286691"/>
            <a:ext cx="2468880" cy="3483272"/>
          </a:xfrm>
          <a:prstGeom prst="rect">
            <a:avLst/>
          </a:prstGeom>
          <a:solidFill>
            <a:srgbClr val="F5F5F5"/>
          </a:solidFill>
          <a:ln w="38100">
            <a:solidFill>
              <a:srgbClr val="F39C12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196035842" name="Text 11"/>
          <p:cNvSpPr/>
          <p:nvPr/>
        </p:nvSpPr>
        <p:spPr bwMode="auto">
          <a:xfrm flipH="0" flipV="0">
            <a:off x="6255757" y="1561244"/>
            <a:ext cx="246888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39C12"/>
                </a:solidFill>
                <a:latin typeface="Times New Roman"/>
                <a:ea typeface="Times New Roman"/>
                <a:cs typeface="Times New Roman"/>
              </a:rPr>
              <a:t>M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36717467" name="Text 12"/>
          <p:cNvSpPr/>
          <p:nvPr/>
        </p:nvSpPr>
        <p:spPr bwMode="auto">
          <a:xfrm flipH="0" flipV="0">
            <a:off x="6400800" y="2322944"/>
            <a:ext cx="2128344" cy="248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MONETARY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32333595" name="Text 13"/>
          <p:cNvSpPr/>
          <p:nvPr/>
        </p:nvSpPr>
        <p:spPr bwMode="auto">
          <a:xfrm flipH="0" flipV="0">
            <a:off x="6400800" y="2056855"/>
            <a:ext cx="2128344" cy="2363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How much money has the customer spent?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501317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 sz="1600">
              <a:latin typeface="Times New Roman"/>
              <a:cs typeface="Times New Roman"/>
            </a:endParaRPr>
          </a:p>
        </p:txBody>
      </p:sp>
      <p:sp>
        <p:nvSpPr>
          <p:cNvPr id="166189479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Data Preprocessing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09641644" name="Shape 2"/>
          <p:cNvSpPr/>
          <p:nvPr/>
        </p:nvSpPr>
        <p:spPr bwMode="auto">
          <a:xfrm flipH="0" flipV="0">
            <a:off x="777240" y="1075002"/>
            <a:ext cx="7589520" cy="746371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>
              <a:latin typeface="Times New Roman"/>
              <a:cs typeface="Times New Roman"/>
            </a:endParaRPr>
          </a:p>
        </p:txBody>
      </p:sp>
      <p:sp>
        <p:nvSpPr>
          <p:cNvPr id="1808297624" name="Text 3"/>
          <p:cNvSpPr/>
          <p:nvPr/>
        </p:nvSpPr>
        <p:spPr bwMode="auto">
          <a:xfrm>
            <a:off x="856083" y="103670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Data Cleaning - Remove duplicates and handle missing values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7282443" name="Shape 4"/>
          <p:cNvSpPr/>
          <p:nvPr/>
        </p:nvSpPr>
        <p:spPr bwMode="auto">
          <a:xfrm flipH="0" flipV="0">
            <a:off x="777240" y="2059032"/>
            <a:ext cx="7589520" cy="792168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>
              <a:latin typeface="Times New Roman"/>
              <a:cs typeface="Times New Roman"/>
            </a:endParaRPr>
          </a:p>
        </p:txBody>
      </p:sp>
      <p:sp>
        <p:nvSpPr>
          <p:cNvPr id="504250508" name="Text 5"/>
          <p:cNvSpPr/>
          <p:nvPr/>
        </p:nvSpPr>
        <p:spPr bwMode="auto">
          <a:xfrm>
            <a:off x="856083" y="20590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Feature Engineering - Calculate RFM metrics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6670839" name="Shape 6"/>
          <p:cNvSpPr/>
          <p:nvPr/>
        </p:nvSpPr>
        <p:spPr bwMode="auto">
          <a:xfrm flipH="0" flipV="0">
            <a:off x="777240" y="3132519"/>
            <a:ext cx="7589520" cy="783460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>
              <a:latin typeface="Times New Roman"/>
              <a:cs typeface="Times New Roman"/>
            </a:endParaRPr>
          </a:p>
        </p:txBody>
      </p:sp>
      <p:sp>
        <p:nvSpPr>
          <p:cNvPr id="245392965" name="Text 7"/>
          <p:cNvSpPr/>
          <p:nvPr/>
        </p:nvSpPr>
        <p:spPr bwMode="auto">
          <a:xfrm>
            <a:off x="856083" y="3093019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Log Transformation - Handle skewed data distributions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4866545" name="Shape 8"/>
          <p:cNvSpPr/>
          <p:nvPr/>
        </p:nvSpPr>
        <p:spPr bwMode="auto">
          <a:xfrm flipH="0" flipV="0">
            <a:off x="786809" y="4236700"/>
            <a:ext cx="7589520" cy="748081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>
              <a:latin typeface="Times New Roman"/>
              <a:cs typeface="Times New Roman"/>
            </a:endParaRPr>
          </a:p>
        </p:txBody>
      </p:sp>
      <p:sp>
        <p:nvSpPr>
          <p:cNvPr id="1274369775" name="Text 9"/>
          <p:cNvSpPr/>
          <p:nvPr/>
        </p:nvSpPr>
        <p:spPr bwMode="auto">
          <a:xfrm flipH="0" flipV="0">
            <a:off x="856083" y="4373860"/>
            <a:ext cx="7060018" cy="561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Normalization - Scale features to 0-1 range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059328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82447011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K-Means Clustering Algorithm</a:t>
            </a:r>
            <a:endParaRPr lang="en-US" sz="4000"/>
          </a:p>
        </p:txBody>
      </p:sp>
      <p:sp>
        <p:nvSpPr>
          <p:cNvPr id="1804187106" name="Shape 2"/>
          <p:cNvSpPr/>
          <p:nvPr/>
        </p:nvSpPr>
        <p:spPr bwMode="auto">
          <a:xfrm>
            <a:off x="731520" y="10972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477474936" name="Text 3"/>
          <p:cNvSpPr/>
          <p:nvPr/>
        </p:nvSpPr>
        <p:spPr bwMode="auto"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1813954225" name="Text 4"/>
          <p:cNvSpPr/>
          <p:nvPr/>
        </p:nvSpPr>
        <p:spPr bwMode="auto">
          <a:xfrm>
            <a:off x="1231562" y="10058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Initialize 4 cluster centers randomly</a:t>
            </a:r>
            <a:endParaRPr lang="en-US" sz="1600"/>
          </a:p>
        </p:txBody>
      </p:sp>
      <p:sp>
        <p:nvSpPr>
          <p:cNvPr id="1009539793" name="Shape 5"/>
          <p:cNvSpPr/>
          <p:nvPr/>
        </p:nvSpPr>
        <p:spPr bwMode="auto">
          <a:xfrm>
            <a:off x="731520" y="18745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106556468" name="Text 6"/>
          <p:cNvSpPr/>
          <p:nvPr/>
        </p:nvSpPr>
        <p:spPr bwMode="auto"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1838014154" name="Text 7"/>
          <p:cNvSpPr/>
          <p:nvPr/>
        </p:nvSpPr>
        <p:spPr bwMode="auto">
          <a:xfrm>
            <a:off x="1231562" y="17830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Assign each customer to nearest center</a:t>
            </a:r>
            <a:endParaRPr lang="en-US" sz="1600"/>
          </a:p>
        </p:txBody>
      </p:sp>
      <p:sp>
        <p:nvSpPr>
          <p:cNvPr id="439677686" name="Shape 8"/>
          <p:cNvSpPr/>
          <p:nvPr/>
        </p:nvSpPr>
        <p:spPr bwMode="auto">
          <a:xfrm>
            <a:off x="731520" y="257175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239371463" name="Text 9"/>
          <p:cNvSpPr/>
          <p:nvPr/>
        </p:nvSpPr>
        <p:spPr bwMode="auto">
          <a:xfrm>
            <a:off x="731520" y="25717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1722959084" name="Text 10"/>
          <p:cNvSpPr/>
          <p:nvPr/>
        </p:nvSpPr>
        <p:spPr bwMode="auto">
          <a:xfrm>
            <a:off x="1231562" y="2480309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Recalculate centers based on assignments</a:t>
            </a:r>
            <a:endParaRPr lang="en-US" sz="1600"/>
          </a:p>
        </p:txBody>
      </p:sp>
      <p:sp>
        <p:nvSpPr>
          <p:cNvPr id="1248271009" name="Shape 11"/>
          <p:cNvSpPr/>
          <p:nvPr/>
        </p:nvSpPr>
        <p:spPr bwMode="auto">
          <a:xfrm>
            <a:off x="731520" y="3211829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51620008" name="Text 12"/>
          <p:cNvSpPr/>
          <p:nvPr/>
        </p:nvSpPr>
        <p:spPr bwMode="auto">
          <a:xfrm>
            <a:off x="731520" y="321182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/>
          </a:p>
        </p:txBody>
      </p:sp>
      <p:sp>
        <p:nvSpPr>
          <p:cNvPr id="1729414137" name="Text 13"/>
          <p:cNvSpPr/>
          <p:nvPr/>
        </p:nvSpPr>
        <p:spPr bwMode="auto">
          <a:xfrm>
            <a:off x="1231562" y="3120389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Repeat until convergence</a:t>
            </a:r>
            <a:endParaRPr lang="en-US" sz="1600"/>
          </a:p>
        </p:txBody>
      </p:sp>
      <p:sp>
        <p:nvSpPr>
          <p:cNvPr id="445462853" name="Shape 14"/>
          <p:cNvSpPr/>
          <p:nvPr/>
        </p:nvSpPr>
        <p:spPr bwMode="auto">
          <a:xfrm>
            <a:off x="731520" y="3890243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395974630" name="Text 15"/>
          <p:cNvSpPr/>
          <p:nvPr/>
        </p:nvSpPr>
        <p:spPr bwMode="auto">
          <a:xfrm>
            <a:off x="731520" y="38902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600"/>
          </a:p>
        </p:txBody>
      </p:sp>
      <p:sp>
        <p:nvSpPr>
          <p:cNvPr id="2016984597" name="Text 16"/>
          <p:cNvSpPr/>
          <p:nvPr/>
        </p:nvSpPr>
        <p:spPr bwMode="auto">
          <a:xfrm>
            <a:off x="1231562" y="3798803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Result: 4 distinct customer segments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52566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76225907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 Segments Identified</a:t>
            </a:r>
            <a:endParaRPr lang="en-US" sz="4000"/>
          </a:p>
        </p:txBody>
      </p:sp>
      <p:sp>
        <p:nvSpPr>
          <p:cNvPr id="928350100" name="Shape 2"/>
          <p:cNvSpPr/>
          <p:nvPr/>
        </p:nvSpPr>
        <p:spPr bwMode="auto">
          <a:xfrm flipH="0" flipV="0">
            <a:off x="640080" y="1188720"/>
            <a:ext cx="3794760" cy="1557745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1454742756" name="Text 3"/>
          <p:cNvSpPr/>
          <p:nvPr/>
        </p:nvSpPr>
        <p:spPr bwMode="auto">
          <a:xfrm flipH="0" flipV="0">
            <a:off x="822959" y="1371600"/>
            <a:ext cx="3449782" cy="299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💚</a:t>
            </a:r>
            <a:endParaRPr lang="en-US" sz="3200"/>
          </a:p>
        </p:txBody>
      </p:sp>
      <p:sp>
        <p:nvSpPr>
          <p:cNvPr id="1796168683" name="Text 4"/>
          <p:cNvSpPr/>
          <p:nvPr/>
        </p:nvSpPr>
        <p:spPr bwMode="auto">
          <a:xfrm flipH="0" flipV="0">
            <a:off x="822959" y="1874520"/>
            <a:ext cx="3449782" cy="20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HIGH-VALUE</a:t>
            </a:r>
            <a:endParaRPr lang="en-US" sz="1800"/>
          </a:p>
        </p:txBody>
      </p:sp>
      <p:sp>
        <p:nvSpPr>
          <p:cNvPr id="230126088" name="Text 5"/>
          <p:cNvSpPr/>
          <p:nvPr/>
        </p:nvSpPr>
        <p:spPr bwMode="auto">
          <a:xfrm flipH="0" flipV="0">
            <a:off x="822959" y="2207246"/>
            <a:ext cx="3449782" cy="539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15%</a:t>
            </a:r>
            <a:endParaRPr lang="en-US" sz="2000"/>
          </a:p>
        </p:txBody>
      </p:sp>
      <p:sp>
        <p:nvSpPr>
          <p:cNvPr id="2042376474" name="Shape 6"/>
          <p:cNvSpPr/>
          <p:nvPr/>
        </p:nvSpPr>
        <p:spPr bwMode="auto">
          <a:xfrm flipH="0" flipV="0">
            <a:off x="4892038" y="1188720"/>
            <a:ext cx="3794760" cy="1557745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948893494" name="Text 7"/>
          <p:cNvSpPr/>
          <p:nvPr/>
        </p:nvSpPr>
        <p:spPr bwMode="auto">
          <a:xfrm flipH="0" flipV="0">
            <a:off x="5074920" y="1371600"/>
            <a:ext cx="3449782" cy="299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💙</a:t>
            </a:r>
            <a:endParaRPr lang="en-US" sz="3200"/>
          </a:p>
        </p:txBody>
      </p:sp>
      <p:sp>
        <p:nvSpPr>
          <p:cNvPr id="54412601" name="Text 8"/>
          <p:cNvSpPr/>
          <p:nvPr/>
        </p:nvSpPr>
        <p:spPr bwMode="auto">
          <a:xfrm flipH="0" flipV="0">
            <a:off x="5074920" y="1874520"/>
            <a:ext cx="3449782" cy="20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REGULAR</a:t>
            </a:r>
            <a:endParaRPr lang="en-US" sz="1800"/>
          </a:p>
        </p:txBody>
      </p:sp>
      <p:sp>
        <p:nvSpPr>
          <p:cNvPr id="801216994" name="Text 9"/>
          <p:cNvSpPr/>
          <p:nvPr/>
        </p:nvSpPr>
        <p:spPr bwMode="auto">
          <a:xfrm flipH="0" flipV="0">
            <a:off x="5064527" y="2207246"/>
            <a:ext cx="3449782" cy="539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35%</a:t>
            </a:r>
            <a:endParaRPr lang="en-US" sz="2000"/>
          </a:p>
        </p:txBody>
      </p:sp>
      <p:sp>
        <p:nvSpPr>
          <p:cNvPr id="425110790" name="Shape 10"/>
          <p:cNvSpPr/>
          <p:nvPr/>
        </p:nvSpPr>
        <p:spPr bwMode="auto">
          <a:xfrm flipH="0" flipV="0">
            <a:off x="640080" y="3291054"/>
            <a:ext cx="3794760" cy="1557745"/>
          </a:xfrm>
          <a:prstGeom prst="rect">
            <a:avLst/>
          </a:prstGeom>
          <a:solidFill>
            <a:srgbClr val="F5F5F5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515219028" name="Text 11"/>
          <p:cNvSpPr/>
          <p:nvPr/>
        </p:nvSpPr>
        <p:spPr bwMode="auto">
          <a:xfrm flipH="0" flipV="0">
            <a:off x="822959" y="3473934"/>
            <a:ext cx="3449782" cy="299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💛</a:t>
            </a:r>
            <a:endParaRPr lang="en-US" sz="3200"/>
          </a:p>
        </p:txBody>
      </p:sp>
      <p:sp>
        <p:nvSpPr>
          <p:cNvPr id="376808475" name="Text 12"/>
          <p:cNvSpPr/>
          <p:nvPr/>
        </p:nvSpPr>
        <p:spPr bwMode="auto">
          <a:xfrm flipH="0" flipV="0">
            <a:off x="822959" y="3976854"/>
            <a:ext cx="3449782" cy="20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OCCASIONAL</a:t>
            </a:r>
            <a:endParaRPr lang="en-US" sz="1800"/>
          </a:p>
        </p:txBody>
      </p:sp>
      <p:sp>
        <p:nvSpPr>
          <p:cNvPr id="1376940159" name="Text 13"/>
          <p:cNvSpPr/>
          <p:nvPr/>
        </p:nvSpPr>
        <p:spPr bwMode="auto">
          <a:xfrm flipH="0" flipV="0">
            <a:off x="822959" y="4309580"/>
            <a:ext cx="3449782" cy="539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30%</a:t>
            </a:r>
            <a:endParaRPr lang="en-US" sz="2000"/>
          </a:p>
        </p:txBody>
      </p:sp>
      <p:sp>
        <p:nvSpPr>
          <p:cNvPr id="426723424" name="Shape 14"/>
          <p:cNvSpPr/>
          <p:nvPr/>
        </p:nvSpPr>
        <p:spPr bwMode="auto">
          <a:xfrm flipH="0" flipV="0">
            <a:off x="4892038" y="3291054"/>
            <a:ext cx="3794760" cy="1557745"/>
          </a:xfrm>
          <a:prstGeom prst="rect">
            <a:avLst/>
          </a:prstGeom>
          <a:solidFill>
            <a:srgbClr val="F5F5F5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1455495785" name="Text 15"/>
          <p:cNvSpPr/>
          <p:nvPr/>
        </p:nvSpPr>
        <p:spPr bwMode="auto">
          <a:xfrm flipH="0" flipV="0">
            <a:off x="5074920" y="3473934"/>
            <a:ext cx="3449782" cy="299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❤️</a:t>
            </a:r>
            <a:endParaRPr lang="en-US" sz="3200"/>
          </a:p>
        </p:txBody>
      </p:sp>
      <p:sp>
        <p:nvSpPr>
          <p:cNvPr id="1881247594" name="Text 16"/>
          <p:cNvSpPr/>
          <p:nvPr/>
        </p:nvSpPr>
        <p:spPr bwMode="auto">
          <a:xfrm flipH="0" flipV="0">
            <a:off x="5074920" y="3976854"/>
            <a:ext cx="3449782" cy="20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E74C3C"/>
                </a:solidFill>
                <a:latin typeface="Calibri"/>
                <a:ea typeface="Calibri"/>
                <a:cs typeface="Calibri"/>
              </a:rPr>
              <a:t>AT-RISK</a:t>
            </a:r>
            <a:endParaRPr lang="en-US" sz="1800"/>
          </a:p>
        </p:txBody>
      </p:sp>
      <p:sp>
        <p:nvSpPr>
          <p:cNvPr id="1396272449" name="Text 17"/>
          <p:cNvSpPr/>
          <p:nvPr/>
        </p:nvSpPr>
        <p:spPr bwMode="auto">
          <a:xfrm flipH="0" flipV="0">
            <a:off x="5074920" y="4309580"/>
            <a:ext cx="3449782" cy="539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602103" name="Shape 0"/>
          <p:cNvSpPr/>
          <p:nvPr/>
        </p:nvSpPr>
        <p:spPr bwMode="auto">
          <a:xfrm>
            <a:off x="0" y="-45175"/>
            <a:ext cx="914400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43839371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💚 High-Value Customers (15%)</a:t>
            </a:r>
            <a:endParaRPr lang="en-US" sz="4000"/>
          </a:p>
        </p:txBody>
      </p:sp>
      <p:sp>
        <p:nvSpPr>
          <p:cNvPr id="2093965801" name="Shape 2"/>
          <p:cNvSpPr/>
          <p:nvPr/>
        </p:nvSpPr>
        <p:spPr bwMode="auto">
          <a:xfrm flipH="0" flipV="0">
            <a:off x="671632" y="1112111"/>
            <a:ext cx="3641909" cy="3883653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20336393" name="Text 3"/>
          <p:cNvSpPr/>
          <p:nvPr/>
        </p:nvSpPr>
        <p:spPr bwMode="auto">
          <a:xfrm flipH="0" flipV="0">
            <a:off x="893936" y="1312136"/>
            <a:ext cx="3145285" cy="24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Characteristics</a:t>
            </a:r>
            <a:endParaRPr lang="en-US" sz="1800"/>
          </a:p>
        </p:txBody>
      </p:sp>
      <p:sp>
        <p:nvSpPr>
          <p:cNvPr id="361838065" name="Text 4"/>
          <p:cNvSpPr/>
          <p:nvPr/>
        </p:nvSpPr>
        <p:spPr bwMode="auto">
          <a:xfrm flipH="0" flipV="0">
            <a:off x="919944" y="1701626"/>
            <a:ext cx="3145285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Recent purchases</a:t>
            </a:r>
            <a:endParaRPr lang="en-US" sz="1500"/>
          </a:p>
        </p:txBody>
      </p:sp>
      <p:sp>
        <p:nvSpPr>
          <p:cNvPr id="1162742684" name="Text 5"/>
          <p:cNvSpPr/>
          <p:nvPr/>
        </p:nvSpPr>
        <p:spPr bwMode="auto">
          <a:xfrm flipH="0" flipV="0">
            <a:off x="919944" y="2187083"/>
            <a:ext cx="3145285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High frequency</a:t>
            </a:r>
            <a:endParaRPr lang="en-US" sz="1500"/>
          </a:p>
        </p:txBody>
      </p:sp>
      <p:sp>
        <p:nvSpPr>
          <p:cNvPr id="985801239" name="Text 6"/>
          <p:cNvSpPr/>
          <p:nvPr/>
        </p:nvSpPr>
        <p:spPr bwMode="auto">
          <a:xfrm flipH="0" flipV="0">
            <a:off x="919944" y="2720825"/>
            <a:ext cx="3145285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Highest spending</a:t>
            </a:r>
            <a:endParaRPr lang="en-US" sz="1500"/>
          </a:p>
        </p:txBody>
      </p:sp>
      <p:sp>
        <p:nvSpPr>
          <p:cNvPr id="1144735631" name="Text 7"/>
          <p:cNvSpPr/>
          <p:nvPr/>
        </p:nvSpPr>
        <p:spPr bwMode="auto">
          <a:xfrm flipH="0" flipV="0">
            <a:off x="919944" y="3158399"/>
            <a:ext cx="3145285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Most loyal</a:t>
            </a:r>
            <a:endParaRPr lang="en-US" sz="1500"/>
          </a:p>
        </p:txBody>
      </p:sp>
      <p:sp>
        <p:nvSpPr>
          <p:cNvPr id="433153601" name="Shape 8"/>
          <p:cNvSpPr/>
          <p:nvPr/>
        </p:nvSpPr>
        <p:spPr bwMode="auto">
          <a:xfrm flipH="0" flipV="0">
            <a:off x="4760424" y="1112111"/>
            <a:ext cx="3393597" cy="3883653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90286506" name="Text 9"/>
          <p:cNvSpPr/>
          <p:nvPr/>
        </p:nvSpPr>
        <p:spPr bwMode="auto">
          <a:xfrm flipH="0" flipV="0">
            <a:off x="4982728" y="1312136"/>
            <a:ext cx="2896973" cy="24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Strategy</a:t>
            </a:r>
            <a:endParaRPr lang="en-US" sz="1800"/>
          </a:p>
        </p:txBody>
      </p:sp>
      <p:sp>
        <p:nvSpPr>
          <p:cNvPr id="1964161080" name="Text 10"/>
          <p:cNvSpPr/>
          <p:nvPr/>
        </p:nvSpPr>
        <p:spPr bwMode="auto">
          <a:xfrm flipH="0" flipV="0">
            <a:off x="4982728" y="1701626"/>
            <a:ext cx="2896973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VIP loyalty rewards</a:t>
            </a:r>
            <a:endParaRPr lang="en-US" sz="1500"/>
          </a:p>
        </p:txBody>
      </p:sp>
      <p:sp>
        <p:nvSpPr>
          <p:cNvPr id="6606765" name="Text 11"/>
          <p:cNvSpPr/>
          <p:nvPr/>
        </p:nvSpPr>
        <p:spPr bwMode="auto">
          <a:xfrm flipH="0" flipV="0">
            <a:off x="4982728" y="2187083"/>
            <a:ext cx="2896973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Exclusive offers</a:t>
            </a:r>
            <a:endParaRPr lang="en-US" sz="1500"/>
          </a:p>
        </p:txBody>
      </p:sp>
      <p:sp>
        <p:nvSpPr>
          <p:cNvPr id="293084632" name="Text 12"/>
          <p:cNvSpPr/>
          <p:nvPr/>
        </p:nvSpPr>
        <p:spPr bwMode="auto">
          <a:xfrm flipH="0" flipV="0">
            <a:off x="4982728" y="2720825"/>
            <a:ext cx="2896973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Premium service</a:t>
            </a:r>
            <a:endParaRPr lang="en-US" sz="1500"/>
          </a:p>
        </p:txBody>
      </p:sp>
      <p:sp>
        <p:nvSpPr>
          <p:cNvPr id="486751920" name="Text 13"/>
          <p:cNvSpPr/>
          <p:nvPr/>
        </p:nvSpPr>
        <p:spPr bwMode="auto">
          <a:xfrm flipH="0" flipV="0">
            <a:off x="4982728" y="3158399"/>
            <a:ext cx="2896973" cy="48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Referral incentives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46724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90602032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💙 Regular Customers (35%)</a:t>
            </a:r>
            <a:endParaRPr lang="en-US" sz="4000"/>
          </a:p>
        </p:txBody>
      </p:sp>
      <p:sp>
        <p:nvSpPr>
          <p:cNvPr id="1971986537" name="Shape 2"/>
          <p:cNvSpPr/>
          <p:nvPr/>
        </p:nvSpPr>
        <p:spPr bwMode="auto">
          <a:xfrm flipH="0" flipV="0">
            <a:off x="640079" y="1097279"/>
            <a:ext cx="4023360" cy="3840168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03569404" name="Text 3"/>
          <p:cNvSpPr/>
          <p:nvPr/>
        </p:nvSpPr>
        <p:spPr bwMode="auto">
          <a:xfrm flipH="0" flipV="0">
            <a:off x="914400" y="1280160"/>
            <a:ext cx="3474720" cy="24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Characteristics</a:t>
            </a:r>
            <a:endParaRPr lang="en-US" sz="1800"/>
          </a:p>
        </p:txBody>
      </p:sp>
      <p:sp>
        <p:nvSpPr>
          <p:cNvPr id="1369817904" name="Text 4"/>
          <p:cNvSpPr/>
          <p:nvPr/>
        </p:nvSpPr>
        <p:spPr bwMode="auto">
          <a:xfrm flipH="0" flipV="0">
            <a:off x="914400" y="1737360"/>
            <a:ext cx="347472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Steady patterns</a:t>
            </a:r>
            <a:endParaRPr lang="en-US" sz="1500"/>
          </a:p>
        </p:txBody>
      </p:sp>
      <p:sp>
        <p:nvSpPr>
          <p:cNvPr id="1126039389" name="Text 5"/>
          <p:cNvSpPr/>
          <p:nvPr/>
        </p:nvSpPr>
        <p:spPr bwMode="auto">
          <a:xfrm flipH="0" flipV="0">
            <a:off x="914400" y="2514599"/>
            <a:ext cx="347472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Moderate frequency</a:t>
            </a:r>
            <a:endParaRPr lang="en-US" sz="1500"/>
          </a:p>
        </p:txBody>
      </p:sp>
      <p:sp>
        <p:nvSpPr>
          <p:cNvPr id="646204762" name="Text 6"/>
          <p:cNvSpPr/>
          <p:nvPr/>
        </p:nvSpPr>
        <p:spPr bwMode="auto">
          <a:xfrm flipH="0" flipV="0">
            <a:off x="914400" y="3291840"/>
            <a:ext cx="347472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Moderate spending</a:t>
            </a:r>
            <a:endParaRPr lang="en-US" sz="1500"/>
          </a:p>
        </p:txBody>
      </p:sp>
      <p:sp>
        <p:nvSpPr>
          <p:cNvPr id="2069308273" name="Text 7"/>
          <p:cNvSpPr/>
          <p:nvPr/>
        </p:nvSpPr>
        <p:spPr bwMode="auto">
          <a:xfrm flipH="0" flipV="0">
            <a:off x="914400" y="4069080"/>
            <a:ext cx="347472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Room for growth</a:t>
            </a:r>
            <a:endParaRPr lang="en-US" sz="1500"/>
          </a:p>
        </p:txBody>
      </p:sp>
      <p:sp>
        <p:nvSpPr>
          <p:cNvPr id="700212127" name="Shape 8"/>
          <p:cNvSpPr/>
          <p:nvPr/>
        </p:nvSpPr>
        <p:spPr bwMode="auto">
          <a:xfrm flipH="0" flipV="0">
            <a:off x="4754880" y="1097279"/>
            <a:ext cx="3749040" cy="3840168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1341810" name="Text 9"/>
          <p:cNvSpPr/>
          <p:nvPr/>
        </p:nvSpPr>
        <p:spPr bwMode="auto">
          <a:xfrm flipH="0" flipV="0">
            <a:off x="5029199" y="1280160"/>
            <a:ext cx="3200400" cy="24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Strategy</a:t>
            </a:r>
            <a:endParaRPr lang="en-US" sz="1800"/>
          </a:p>
        </p:txBody>
      </p:sp>
      <p:sp>
        <p:nvSpPr>
          <p:cNvPr id="7794255" name="Text 10"/>
          <p:cNvSpPr/>
          <p:nvPr/>
        </p:nvSpPr>
        <p:spPr bwMode="auto">
          <a:xfrm flipH="0" flipV="0">
            <a:off x="5029199" y="1737360"/>
            <a:ext cx="320040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Personalized offers</a:t>
            </a:r>
            <a:endParaRPr lang="en-US" sz="1500"/>
          </a:p>
        </p:txBody>
      </p:sp>
      <p:sp>
        <p:nvSpPr>
          <p:cNvPr id="1186723975" name="Text 11"/>
          <p:cNvSpPr/>
          <p:nvPr/>
        </p:nvSpPr>
        <p:spPr bwMode="auto">
          <a:xfrm flipH="0" flipV="0">
            <a:off x="5029199" y="2514599"/>
            <a:ext cx="320040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Cross-sell items</a:t>
            </a:r>
            <a:endParaRPr lang="en-US" sz="1500"/>
          </a:p>
        </p:txBody>
      </p:sp>
      <p:sp>
        <p:nvSpPr>
          <p:cNvPr id="315659439" name="Text 12"/>
          <p:cNvSpPr/>
          <p:nvPr/>
        </p:nvSpPr>
        <p:spPr bwMode="auto">
          <a:xfrm flipH="0" flipV="0">
            <a:off x="5029199" y="3291840"/>
            <a:ext cx="320040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Bundle deals</a:t>
            </a:r>
            <a:endParaRPr lang="en-US" sz="1500"/>
          </a:p>
        </p:txBody>
      </p:sp>
      <p:sp>
        <p:nvSpPr>
          <p:cNvPr id="1139498898" name="Text 13"/>
          <p:cNvSpPr/>
          <p:nvPr/>
        </p:nvSpPr>
        <p:spPr bwMode="auto">
          <a:xfrm flipH="0" flipV="0">
            <a:off x="5029199" y="4069080"/>
            <a:ext cx="3200400" cy="480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Upgrade incentives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101555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31497785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💛 Occasional Customers (30%)</a:t>
            </a:r>
            <a:endParaRPr lang="en-US" sz="4000"/>
          </a:p>
        </p:txBody>
      </p:sp>
      <p:sp>
        <p:nvSpPr>
          <p:cNvPr id="1826400161" name="Shape 2"/>
          <p:cNvSpPr/>
          <p:nvPr/>
        </p:nvSpPr>
        <p:spPr bwMode="auto">
          <a:xfrm flipH="0" flipV="0">
            <a:off x="640079" y="1097279"/>
            <a:ext cx="4023360" cy="3611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24152502" name="Text 3"/>
          <p:cNvSpPr/>
          <p:nvPr/>
        </p:nvSpPr>
        <p:spPr bwMode="auto">
          <a:xfrm flipH="0" flipV="0">
            <a:off x="914400" y="1280160"/>
            <a:ext cx="3474720" cy="225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Characteristics</a:t>
            </a:r>
            <a:endParaRPr lang="en-US" sz="1800"/>
          </a:p>
        </p:txBody>
      </p:sp>
      <p:sp>
        <p:nvSpPr>
          <p:cNvPr id="1163779975" name="Text 4"/>
          <p:cNvSpPr/>
          <p:nvPr/>
        </p:nvSpPr>
        <p:spPr bwMode="auto">
          <a:xfrm flipH="0" flipV="0">
            <a:off x="914400" y="1737360"/>
            <a:ext cx="347472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Infrequent buyers</a:t>
            </a:r>
            <a:endParaRPr lang="en-US" sz="1500"/>
          </a:p>
        </p:txBody>
      </p:sp>
      <p:sp>
        <p:nvSpPr>
          <p:cNvPr id="1795528606" name="Text 5"/>
          <p:cNvSpPr/>
          <p:nvPr/>
        </p:nvSpPr>
        <p:spPr bwMode="auto">
          <a:xfrm flipH="0" flipV="0">
            <a:off x="914400" y="2514599"/>
            <a:ext cx="347472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Low spending</a:t>
            </a:r>
            <a:endParaRPr lang="en-US" sz="1500"/>
          </a:p>
        </p:txBody>
      </p:sp>
      <p:sp>
        <p:nvSpPr>
          <p:cNvPr id="1703501031" name="Text 6"/>
          <p:cNvSpPr/>
          <p:nvPr/>
        </p:nvSpPr>
        <p:spPr bwMode="auto">
          <a:xfrm flipH="0" flipV="0">
            <a:off x="914400" y="3291840"/>
            <a:ext cx="347472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Long gaps</a:t>
            </a:r>
            <a:endParaRPr lang="en-US" sz="1500"/>
          </a:p>
        </p:txBody>
      </p:sp>
      <p:sp>
        <p:nvSpPr>
          <p:cNvPr id="1114938626" name="Text 7"/>
          <p:cNvSpPr/>
          <p:nvPr/>
        </p:nvSpPr>
        <p:spPr bwMode="auto">
          <a:xfrm flipH="0" flipV="0">
            <a:off x="914400" y="4069080"/>
            <a:ext cx="347472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High potential</a:t>
            </a:r>
            <a:endParaRPr lang="en-US" sz="1500"/>
          </a:p>
        </p:txBody>
      </p:sp>
      <p:sp>
        <p:nvSpPr>
          <p:cNvPr id="375419762" name="Shape 8"/>
          <p:cNvSpPr/>
          <p:nvPr/>
        </p:nvSpPr>
        <p:spPr bwMode="auto">
          <a:xfrm flipH="0" flipV="0">
            <a:off x="4754880" y="1097279"/>
            <a:ext cx="3749040" cy="3611880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27331138" name="Text 9"/>
          <p:cNvSpPr/>
          <p:nvPr/>
        </p:nvSpPr>
        <p:spPr bwMode="auto">
          <a:xfrm flipH="0" flipV="0">
            <a:off x="5029199" y="1280160"/>
            <a:ext cx="3200400" cy="225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Strategy</a:t>
            </a:r>
            <a:endParaRPr lang="en-US" sz="1800"/>
          </a:p>
        </p:txBody>
      </p:sp>
      <p:sp>
        <p:nvSpPr>
          <p:cNvPr id="757487087" name="Text 10"/>
          <p:cNvSpPr/>
          <p:nvPr/>
        </p:nvSpPr>
        <p:spPr bwMode="auto">
          <a:xfrm flipH="0" flipV="0">
            <a:off x="5029199" y="1737360"/>
            <a:ext cx="320040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Re-engagement</a:t>
            </a:r>
            <a:endParaRPr lang="en-US" sz="1500"/>
          </a:p>
        </p:txBody>
      </p:sp>
      <p:sp>
        <p:nvSpPr>
          <p:cNvPr id="787433854" name="Text 11"/>
          <p:cNvSpPr/>
          <p:nvPr/>
        </p:nvSpPr>
        <p:spPr bwMode="auto">
          <a:xfrm flipH="0" flipV="0">
            <a:off x="5029199" y="2514599"/>
            <a:ext cx="320040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Special promos</a:t>
            </a:r>
            <a:endParaRPr lang="en-US" sz="1500"/>
          </a:p>
        </p:txBody>
      </p:sp>
      <p:sp>
        <p:nvSpPr>
          <p:cNvPr id="124573099" name="Text 12"/>
          <p:cNvSpPr/>
          <p:nvPr/>
        </p:nvSpPr>
        <p:spPr bwMode="auto">
          <a:xfrm flipH="0" flipV="0">
            <a:off x="5029199" y="3291840"/>
            <a:ext cx="320040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Discount codes</a:t>
            </a:r>
            <a:endParaRPr lang="en-US" sz="1500"/>
          </a:p>
        </p:txBody>
      </p:sp>
      <p:sp>
        <p:nvSpPr>
          <p:cNvPr id="99729229" name="Text 13"/>
          <p:cNvSpPr/>
          <p:nvPr/>
        </p:nvSpPr>
        <p:spPr bwMode="auto">
          <a:xfrm flipH="0" flipV="0">
            <a:off x="5029199" y="4069080"/>
            <a:ext cx="3200400" cy="45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Reminder emails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36760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48290992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❤️ At-Risk Customers (20%)</a:t>
            </a:r>
            <a:endParaRPr lang="en-US" sz="4000"/>
          </a:p>
        </p:txBody>
      </p:sp>
      <p:sp>
        <p:nvSpPr>
          <p:cNvPr id="1958786855" name="Shape 2"/>
          <p:cNvSpPr/>
          <p:nvPr/>
        </p:nvSpPr>
        <p:spPr bwMode="auto">
          <a:xfrm flipH="0" flipV="0">
            <a:off x="640079" y="1081284"/>
            <a:ext cx="4023360" cy="382003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86915226" name="Text 3"/>
          <p:cNvSpPr/>
          <p:nvPr/>
        </p:nvSpPr>
        <p:spPr bwMode="auto">
          <a:xfrm flipH="0" flipV="0">
            <a:off x="914400" y="1264164"/>
            <a:ext cx="3474720" cy="23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Characteristics</a:t>
            </a:r>
            <a:endParaRPr lang="en-US" sz="1800"/>
          </a:p>
        </p:txBody>
      </p:sp>
      <p:sp>
        <p:nvSpPr>
          <p:cNvPr id="286145916" name="Text 4"/>
          <p:cNvSpPr/>
          <p:nvPr/>
        </p:nvSpPr>
        <p:spPr bwMode="auto">
          <a:xfrm flipH="0" flipV="0">
            <a:off x="914400" y="1721364"/>
            <a:ext cx="347472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No recent purchases</a:t>
            </a:r>
            <a:endParaRPr lang="en-US" sz="1500"/>
          </a:p>
        </p:txBody>
      </p:sp>
      <p:sp>
        <p:nvSpPr>
          <p:cNvPr id="1301464658" name="Text 5"/>
          <p:cNvSpPr/>
          <p:nvPr/>
        </p:nvSpPr>
        <p:spPr bwMode="auto">
          <a:xfrm flipH="0" flipV="0">
            <a:off x="914400" y="2498604"/>
            <a:ext cx="347472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High churn risk</a:t>
            </a:r>
            <a:endParaRPr lang="en-US" sz="1500"/>
          </a:p>
        </p:txBody>
      </p:sp>
      <p:sp>
        <p:nvSpPr>
          <p:cNvPr id="1637216998" name="Text 6"/>
          <p:cNvSpPr/>
          <p:nvPr/>
        </p:nvSpPr>
        <p:spPr bwMode="auto">
          <a:xfrm flipH="0" flipV="0">
            <a:off x="914400" y="3275844"/>
            <a:ext cx="347472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Previous buyers</a:t>
            </a:r>
            <a:endParaRPr lang="en-US" sz="1500"/>
          </a:p>
        </p:txBody>
      </p:sp>
      <p:sp>
        <p:nvSpPr>
          <p:cNvPr id="216685611" name="Text 7"/>
          <p:cNvSpPr/>
          <p:nvPr/>
        </p:nvSpPr>
        <p:spPr bwMode="auto">
          <a:xfrm flipH="0" flipV="0">
            <a:off x="914400" y="4053084"/>
            <a:ext cx="347472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Need action NOW</a:t>
            </a:r>
            <a:endParaRPr lang="en-US" sz="1500"/>
          </a:p>
        </p:txBody>
      </p:sp>
      <p:sp>
        <p:nvSpPr>
          <p:cNvPr id="148811379" name="Shape 8"/>
          <p:cNvSpPr/>
          <p:nvPr/>
        </p:nvSpPr>
        <p:spPr bwMode="auto">
          <a:xfrm flipH="0" flipV="0">
            <a:off x="4754880" y="1081284"/>
            <a:ext cx="3749040" cy="3820030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94465539" name="Text 9"/>
          <p:cNvSpPr/>
          <p:nvPr/>
        </p:nvSpPr>
        <p:spPr bwMode="auto">
          <a:xfrm flipH="0" flipV="0">
            <a:off x="5029199" y="1264164"/>
            <a:ext cx="3200400" cy="23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Strategy</a:t>
            </a:r>
            <a:endParaRPr lang="en-US" sz="1800"/>
          </a:p>
        </p:txBody>
      </p:sp>
      <p:sp>
        <p:nvSpPr>
          <p:cNvPr id="1309130649" name="Text 10"/>
          <p:cNvSpPr/>
          <p:nvPr/>
        </p:nvSpPr>
        <p:spPr bwMode="auto">
          <a:xfrm flipH="0" flipV="0">
            <a:off x="5029199" y="1721364"/>
            <a:ext cx="320040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Win-back campaigns</a:t>
            </a:r>
            <a:endParaRPr lang="en-US" sz="1500"/>
          </a:p>
        </p:txBody>
      </p:sp>
      <p:sp>
        <p:nvSpPr>
          <p:cNvPr id="812963657" name="Text 11"/>
          <p:cNvSpPr/>
          <p:nvPr/>
        </p:nvSpPr>
        <p:spPr bwMode="auto">
          <a:xfrm flipH="0" flipV="0">
            <a:off x="5029199" y="2498604"/>
            <a:ext cx="320040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Special offers</a:t>
            </a:r>
            <a:endParaRPr lang="en-US" sz="1500"/>
          </a:p>
        </p:txBody>
      </p:sp>
      <p:sp>
        <p:nvSpPr>
          <p:cNvPr id="1189557338" name="Text 12"/>
          <p:cNvSpPr/>
          <p:nvPr/>
        </p:nvSpPr>
        <p:spPr bwMode="auto">
          <a:xfrm flipH="0" flipV="0">
            <a:off x="5029199" y="3275844"/>
            <a:ext cx="320040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Feedback surveys</a:t>
            </a:r>
            <a:endParaRPr lang="en-US" sz="1500"/>
          </a:p>
        </p:txBody>
      </p:sp>
      <p:sp>
        <p:nvSpPr>
          <p:cNvPr id="1162509752" name="Text 13"/>
          <p:cNvSpPr/>
          <p:nvPr/>
        </p:nvSpPr>
        <p:spPr bwMode="auto">
          <a:xfrm flipH="0" flipV="0">
            <a:off x="5029199" y="4053084"/>
            <a:ext cx="3200400" cy="477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Last-chance deals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20513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5031972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 Recommendation System</a:t>
            </a:r>
            <a:endParaRPr lang="en-US" sz="4000"/>
          </a:p>
        </p:txBody>
      </p:sp>
      <p:sp>
        <p:nvSpPr>
          <p:cNvPr id="408840645" name="Shape 2"/>
          <p:cNvSpPr/>
          <p:nvPr/>
        </p:nvSpPr>
        <p:spPr bwMode="auto">
          <a:xfrm flipH="0" flipV="0">
            <a:off x="811881" y="1097454"/>
            <a:ext cx="7426357" cy="522766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25578612" name="Text 3"/>
          <p:cNvSpPr/>
          <p:nvPr/>
        </p:nvSpPr>
        <p:spPr bwMode="auto">
          <a:xfrm flipH="0" flipV="0">
            <a:off x="1055679" y="1173615"/>
            <a:ext cx="6908239" cy="392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1. Calculate product similarity using cosine similarity</a:t>
            </a:r>
            <a:endParaRPr lang="en-US" sz="1700"/>
          </a:p>
        </p:txBody>
      </p:sp>
      <p:sp>
        <p:nvSpPr>
          <p:cNvPr id="1226939792" name="Shape 4"/>
          <p:cNvSpPr/>
          <p:nvPr/>
        </p:nvSpPr>
        <p:spPr bwMode="auto">
          <a:xfrm flipH="0" flipV="0">
            <a:off x="811881" y="2029254"/>
            <a:ext cx="7426357" cy="522766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50515206" name="Text 5"/>
          <p:cNvSpPr/>
          <p:nvPr/>
        </p:nvSpPr>
        <p:spPr bwMode="auto">
          <a:xfrm flipH="0" flipV="0">
            <a:off x="1055679" y="2105416"/>
            <a:ext cx="6908239" cy="392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2. Build product lookup table with top 5 matches</a:t>
            </a:r>
            <a:endParaRPr lang="en-US" sz="1700"/>
          </a:p>
        </p:txBody>
      </p:sp>
      <p:sp>
        <p:nvSpPr>
          <p:cNvPr id="2111782397" name="Shape 6"/>
          <p:cNvSpPr/>
          <p:nvPr/>
        </p:nvSpPr>
        <p:spPr bwMode="auto">
          <a:xfrm flipH="0" flipV="0">
            <a:off x="796620" y="3058846"/>
            <a:ext cx="7426357" cy="522766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6186435" name="Text 7"/>
          <p:cNvSpPr/>
          <p:nvPr/>
        </p:nvSpPr>
        <p:spPr bwMode="auto">
          <a:xfrm flipH="0" flipV="0">
            <a:off x="1040418" y="3135007"/>
            <a:ext cx="6908239" cy="392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3. Match user input to database</a:t>
            </a:r>
            <a:endParaRPr lang="en-US" sz="1700"/>
          </a:p>
        </p:txBody>
      </p:sp>
      <p:sp>
        <p:nvSpPr>
          <p:cNvPr id="206067583" name="Shape 8"/>
          <p:cNvSpPr/>
          <p:nvPr/>
        </p:nvSpPr>
        <p:spPr bwMode="auto">
          <a:xfrm flipH="0" flipV="0">
            <a:off x="796620" y="4055064"/>
            <a:ext cx="7426357" cy="522766"/>
          </a:xfrm>
          <a:prstGeom prst="rect">
            <a:avLst/>
          </a:prstGeom>
          <a:solidFill>
            <a:srgbClr val="E8E8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61445696" name="Text 9"/>
          <p:cNvSpPr/>
          <p:nvPr/>
        </p:nvSpPr>
        <p:spPr bwMode="auto">
          <a:xfrm flipH="0" flipV="0">
            <a:off x="1040418" y="4131225"/>
            <a:ext cx="6908239" cy="392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4. Return personalized recommendations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850229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629746076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Streamlit Application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90465538" name="Shape 2"/>
          <p:cNvSpPr/>
          <p:nvPr/>
        </p:nvSpPr>
        <p:spPr bwMode="auto">
          <a:xfrm flipH="0" flipV="0">
            <a:off x="640080" y="1097280"/>
            <a:ext cx="7863840" cy="982980"/>
          </a:xfrm>
          <a:prstGeom prst="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55772970" name="Text 3"/>
          <p:cNvSpPr/>
          <p:nvPr/>
        </p:nvSpPr>
        <p:spPr bwMode="auto">
          <a:xfrm flipH="0" flipV="0">
            <a:off x="768609" y="1287079"/>
            <a:ext cx="2286000" cy="20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Home Page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49038313" name="Text 4"/>
          <p:cNvSpPr/>
          <p:nvPr/>
        </p:nvSpPr>
        <p:spPr bwMode="auto">
          <a:xfrm flipH="0" flipV="0">
            <a:off x="768609" y="1588770"/>
            <a:ext cx="7315200" cy="433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Overview &amp; project info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9102636" name="Shape 5"/>
          <p:cNvSpPr/>
          <p:nvPr/>
        </p:nvSpPr>
        <p:spPr bwMode="auto">
          <a:xfrm flipH="0" flipV="0">
            <a:off x="640080" y="2526028"/>
            <a:ext cx="7863840" cy="982980"/>
          </a:xfrm>
          <a:prstGeom prst="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96365725" name="Text 6"/>
          <p:cNvSpPr/>
          <p:nvPr/>
        </p:nvSpPr>
        <p:spPr bwMode="auto">
          <a:xfrm flipH="0" flipV="0">
            <a:off x="768609" y="2657901"/>
            <a:ext cx="2286000" cy="20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Recommendations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74049698" name="Text 7"/>
          <p:cNvSpPr/>
          <p:nvPr/>
        </p:nvSpPr>
        <p:spPr bwMode="auto">
          <a:xfrm flipH="0" flipV="0">
            <a:off x="768609" y="2968921"/>
            <a:ext cx="7315200" cy="433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Search products → Get 5 matches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90966114" name="Shape 8"/>
          <p:cNvSpPr/>
          <p:nvPr/>
        </p:nvSpPr>
        <p:spPr bwMode="auto">
          <a:xfrm flipH="0" flipV="0">
            <a:off x="640080" y="3931920"/>
            <a:ext cx="7863840" cy="982980"/>
          </a:xfrm>
          <a:prstGeom prst="rect">
            <a:avLst/>
          </a:prstGeom>
          <a:solidFill>
            <a:srgbClr val="E8E8E8"/>
          </a:solidFill>
          <a:ln w="25400">
            <a:solidFill>
              <a:srgbClr val="028090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407967166" name="Text 9"/>
          <p:cNvSpPr/>
          <p:nvPr/>
        </p:nvSpPr>
        <p:spPr bwMode="auto">
          <a:xfrm flipH="0" flipV="0">
            <a:off x="826925" y="4114800"/>
            <a:ext cx="2286000" cy="20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28090"/>
                </a:solidFill>
                <a:latin typeface="Times New Roman"/>
                <a:ea typeface="Times New Roman"/>
                <a:cs typeface="Times New Roman"/>
              </a:rPr>
              <a:t>Segmentation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26723758" name="Text 10"/>
          <p:cNvSpPr/>
          <p:nvPr/>
        </p:nvSpPr>
        <p:spPr bwMode="auto">
          <a:xfrm flipH="0" flipV="0">
            <a:off x="826925" y="4423410"/>
            <a:ext cx="7315200" cy="433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Input RFM → Get segment classification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920662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41262844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Technology Stack</a:t>
            </a:r>
            <a:endParaRPr lang="en-US" sz="4000"/>
          </a:p>
        </p:txBody>
      </p:sp>
      <p:sp>
        <p:nvSpPr>
          <p:cNvPr id="2031394006" name="Shape 2"/>
          <p:cNvSpPr/>
          <p:nvPr/>
        </p:nvSpPr>
        <p:spPr bwMode="auto">
          <a:xfrm flipH="0" flipV="0">
            <a:off x="472982" y="1074420"/>
            <a:ext cx="2243156" cy="32003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71657195" name="Text 3"/>
          <p:cNvSpPr/>
          <p:nvPr/>
        </p:nvSpPr>
        <p:spPr bwMode="auto">
          <a:xfrm flipH="0" flipV="0">
            <a:off x="641707" y="1165860"/>
            <a:ext cx="1937271" cy="117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Language</a:t>
            </a:r>
            <a:endParaRPr lang="en-US" sz="1400"/>
          </a:p>
        </p:txBody>
      </p:sp>
      <p:sp>
        <p:nvSpPr>
          <p:cNvPr id="1218809610" name="Text 4"/>
          <p:cNvSpPr/>
          <p:nvPr/>
        </p:nvSpPr>
        <p:spPr bwMode="auto">
          <a:xfrm>
            <a:off x="2880360" y="927634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Python 3.8+</a:t>
            </a:r>
            <a:endParaRPr lang="en-US" sz="1600"/>
          </a:p>
        </p:txBody>
      </p:sp>
      <p:sp>
        <p:nvSpPr>
          <p:cNvPr id="842044758" name="Shape 5"/>
          <p:cNvSpPr/>
          <p:nvPr/>
        </p:nvSpPr>
        <p:spPr bwMode="auto">
          <a:xfrm flipH="0" flipV="0">
            <a:off x="457200" y="1887754"/>
            <a:ext cx="2243156" cy="32003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29373112" name="Text 6"/>
          <p:cNvSpPr/>
          <p:nvPr/>
        </p:nvSpPr>
        <p:spPr bwMode="auto">
          <a:xfrm flipH="0" flipV="0">
            <a:off x="625924" y="1979194"/>
            <a:ext cx="1937271" cy="117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Libraries</a:t>
            </a:r>
            <a:endParaRPr lang="en-US" sz="1400"/>
          </a:p>
        </p:txBody>
      </p:sp>
      <p:sp>
        <p:nvSpPr>
          <p:cNvPr id="1231741736" name="Text 7"/>
          <p:cNvSpPr/>
          <p:nvPr/>
        </p:nvSpPr>
        <p:spPr bwMode="auto">
          <a:xfrm>
            <a:off x="2880360" y="1740969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Scikit-learn, NumPy, Pandas</a:t>
            </a:r>
            <a:endParaRPr lang="en-US" sz="1600"/>
          </a:p>
        </p:txBody>
      </p:sp>
      <p:sp>
        <p:nvSpPr>
          <p:cNvPr id="842279798" name="Shape 8"/>
          <p:cNvSpPr/>
          <p:nvPr/>
        </p:nvSpPr>
        <p:spPr bwMode="auto">
          <a:xfrm flipH="0" flipV="0">
            <a:off x="457200" y="2671010"/>
            <a:ext cx="2243156" cy="32003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86243142" name="Text 9"/>
          <p:cNvSpPr/>
          <p:nvPr/>
        </p:nvSpPr>
        <p:spPr bwMode="auto">
          <a:xfrm flipH="0" flipV="0">
            <a:off x="625924" y="2762450"/>
            <a:ext cx="1937271" cy="117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App</a:t>
            </a:r>
            <a:endParaRPr lang="en-US" sz="1400"/>
          </a:p>
        </p:txBody>
      </p:sp>
      <p:sp>
        <p:nvSpPr>
          <p:cNvPr id="326919636" name="Text 10"/>
          <p:cNvSpPr/>
          <p:nvPr/>
        </p:nvSpPr>
        <p:spPr bwMode="auto">
          <a:xfrm>
            <a:off x="2880360" y="253385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Streamlit</a:t>
            </a:r>
            <a:endParaRPr lang="en-US" sz="1600"/>
          </a:p>
        </p:txBody>
      </p:sp>
      <p:sp>
        <p:nvSpPr>
          <p:cNvPr id="1602059210" name="Shape 11"/>
          <p:cNvSpPr/>
          <p:nvPr/>
        </p:nvSpPr>
        <p:spPr bwMode="auto">
          <a:xfrm flipH="0" flipV="0">
            <a:off x="472982" y="3484344"/>
            <a:ext cx="2243156" cy="32003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33568707" name="Text 12"/>
          <p:cNvSpPr/>
          <p:nvPr/>
        </p:nvSpPr>
        <p:spPr bwMode="auto">
          <a:xfrm flipH="0" flipV="0">
            <a:off x="641707" y="3575784"/>
            <a:ext cx="1937271" cy="117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Algorithms</a:t>
            </a:r>
            <a:endParaRPr lang="en-US" sz="1400"/>
          </a:p>
        </p:txBody>
      </p:sp>
      <p:sp>
        <p:nvSpPr>
          <p:cNvPr id="1410708502" name="Text 13"/>
          <p:cNvSpPr/>
          <p:nvPr/>
        </p:nvSpPr>
        <p:spPr bwMode="auto">
          <a:xfrm>
            <a:off x="2880360" y="3278604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K-Means, StandardScaler</a:t>
            </a:r>
            <a:endParaRPr lang="en-US" sz="1600"/>
          </a:p>
        </p:txBody>
      </p:sp>
      <p:sp>
        <p:nvSpPr>
          <p:cNvPr id="37135362" name="Shape 14"/>
          <p:cNvSpPr/>
          <p:nvPr/>
        </p:nvSpPr>
        <p:spPr bwMode="auto">
          <a:xfrm flipH="0" flipV="0">
            <a:off x="472982" y="4238724"/>
            <a:ext cx="2243156" cy="32003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00114460" name="Text 15"/>
          <p:cNvSpPr/>
          <p:nvPr/>
        </p:nvSpPr>
        <p:spPr bwMode="auto">
          <a:xfrm flipH="0" flipV="0">
            <a:off x="641707" y="4330164"/>
            <a:ext cx="1937271" cy="117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Recommendations</a:t>
            </a:r>
            <a:endParaRPr lang="en-US" sz="1400"/>
          </a:p>
        </p:txBody>
      </p:sp>
      <p:sp>
        <p:nvSpPr>
          <p:cNvPr id="450122807" name="Text 16"/>
          <p:cNvSpPr/>
          <p:nvPr/>
        </p:nvSpPr>
        <p:spPr bwMode="auto">
          <a:xfrm>
            <a:off x="2802604" y="409194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Cosine Similarity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288305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1E3A5F"/>
          </a:solidFill>
          <a:ln/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38568462" name="Text 1"/>
          <p:cNvSpPr/>
          <p:nvPr/>
        </p:nvSpPr>
        <p:spPr bwMode="auto"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Results &amp; Impact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3389244" name="Shape 2"/>
          <p:cNvSpPr/>
          <p:nvPr/>
        </p:nvSpPr>
        <p:spPr bwMode="auto">
          <a:xfrm flipH="0" flipV="0">
            <a:off x="597749" y="1085849"/>
            <a:ext cx="7696215" cy="548639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737345517" name="Text 3"/>
          <p:cNvSpPr/>
          <p:nvPr/>
        </p:nvSpPr>
        <p:spPr bwMode="auto">
          <a:xfrm flipH="0" flipV="0">
            <a:off x="860374" y="1085849"/>
            <a:ext cx="7159270" cy="411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4 Customer Segments - Clear segmentation for targeted strategies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50834084" name="Shape 4"/>
          <p:cNvSpPr/>
          <p:nvPr/>
        </p:nvSpPr>
        <p:spPr bwMode="auto">
          <a:xfrm flipH="0" flipV="0">
            <a:off x="609444" y="2023109"/>
            <a:ext cx="7696215" cy="548639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842049815" name="Text 5"/>
          <p:cNvSpPr/>
          <p:nvPr/>
        </p:nvSpPr>
        <p:spPr bwMode="auto">
          <a:xfrm flipH="0" flipV="0">
            <a:off x="872069" y="2023109"/>
            <a:ext cx="7159270" cy="411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5 Product Matches - Personalized recommendations per search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37711183" name="Shape 6"/>
          <p:cNvSpPr/>
          <p:nvPr/>
        </p:nvSpPr>
        <p:spPr bwMode="auto">
          <a:xfrm flipH="0" flipV="0">
            <a:off x="615291" y="3028949"/>
            <a:ext cx="7696215" cy="548639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985646791" name="Text 7"/>
          <p:cNvSpPr/>
          <p:nvPr/>
        </p:nvSpPr>
        <p:spPr bwMode="auto">
          <a:xfrm flipH="0" flipV="0">
            <a:off x="877916" y="3028949"/>
            <a:ext cx="7159270" cy="411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Real-time Processing - Instant predictions and results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15257136" name="Shape 8"/>
          <p:cNvSpPr/>
          <p:nvPr/>
        </p:nvSpPr>
        <p:spPr bwMode="auto">
          <a:xfrm flipH="0" flipV="0">
            <a:off x="671632" y="4012162"/>
            <a:ext cx="7696215" cy="548639"/>
          </a:xfrm>
          <a:prstGeom prst="rect">
            <a:avLst/>
          </a:prstGeom>
          <a:solidFill>
            <a:srgbClr val="E8E8E8"/>
          </a:solidFill>
          <a:ln w="25400">
            <a:solidFill>
              <a:srgbClr val="00A896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221801376" name="Text 9"/>
          <p:cNvSpPr/>
          <p:nvPr/>
        </p:nvSpPr>
        <p:spPr bwMode="auto">
          <a:xfrm flipH="0" flipV="0">
            <a:off x="934257" y="4012162"/>
            <a:ext cx="7159270" cy="411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✓ Data-Driven Approach - Actionable business insights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1E3A5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273695" name="Shape 0"/>
          <p:cNvSpPr/>
          <p:nvPr/>
        </p:nvSpPr>
        <p:spPr bwMode="auto">
          <a:xfrm>
            <a:off x="0" y="1463040"/>
            <a:ext cx="9144000" cy="4572000"/>
          </a:xfrm>
          <a:prstGeom prst="rect">
            <a:avLst/>
          </a:prstGeom>
          <a:solidFill>
            <a:srgbClr val="028090"/>
          </a:solidFill>
          <a:ln/>
        </p:spPr>
        <p:txBody>
          <a:bodyPr anchor="ctr"/>
          <a:p>
            <a:pPr algn="ctr">
              <a:defRPr/>
            </a:pPr>
            <a:endParaRPr sz="1600">
              <a:latin typeface="Times New Roman"/>
              <a:cs typeface="Times New Roman"/>
            </a:endParaRPr>
          </a:p>
        </p:txBody>
      </p:sp>
      <p:sp>
        <p:nvSpPr>
          <p:cNvPr id="1092189118" name="Text 1"/>
          <p:cNvSpPr/>
          <p:nvPr/>
        </p:nvSpPr>
        <p:spPr bwMode="auto"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Thank You!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2040590001" name="Text 2"/>
          <p:cNvSpPr/>
          <p:nvPr/>
        </p:nvSpPr>
        <p:spPr bwMode="auto"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i="1">
                <a:solidFill>
                  <a:srgbClr val="F5F5F5"/>
                </a:solidFill>
                <a:latin typeface="Times New Roman"/>
                <a:ea typeface="Times New Roman"/>
                <a:cs typeface="Times New Roman"/>
              </a:rPr>
              <a:t>Shopper Spectrum: Data-Driven Customer Intelligence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73676901" name="Text 3"/>
          <p:cNvSpPr/>
          <p:nvPr/>
        </p:nvSpPr>
        <p:spPr bwMode="auto"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Questions &amp; Discussion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68261040" name="Text 4"/>
          <p:cNvSpPr/>
          <p:nvPr/>
        </p:nvSpPr>
        <p:spPr bwMode="auto"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5F5F5"/>
                </a:solidFill>
                <a:latin typeface="Times New Roman"/>
                <a:ea typeface="Times New Roman"/>
                <a:cs typeface="Times New Roman"/>
              </a:rPr>
              <a:t>By: Abhishek | May Batch</a:t>
            </a:r>
            <a:endParaRPr sz="14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F5F5F5"/>
                </a:solidFill>
                <a:latin typeface="Times New Roman"/>
                <a:ea typeface="Times New Roman"/>
                <a:cs typeface="Times New Roman"/>
              </a:rPr>
              <a:t>Machine Learning &amp; Data Science Project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2026-06-21T00:37:15Z</dcterms:created>
  <dcterms:modified xsi:type="dcterms:W3CDTF">2026-06-22T21:05:13Z</dcterms:modified>
</cp:coreProperties>
</file>